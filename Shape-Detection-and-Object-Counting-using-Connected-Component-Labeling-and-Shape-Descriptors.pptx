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Instrument Sans Semi Bold"/>
      <p:regular r:id="rId13"/>
    </p:embeddedFont>
    <p:embeddedFont>
      <p:font typeface="Instrument Sans Semi Bold"/>
      <p:regular r:id="rId14"/>
    </p:embeddedFont>
    <p:embeddedFont>
      <p:font typeface="Instrument Sans Semi Bold"/>
      <p:regular r:id="rId15"/>
    </p:embeddedFont>
    <p:embeddedFont>
      <p:font typeface="Instrument Sans Semi Bold"/>
      <p:regular r:id="rId16"/>
    </p:embeddedFont>
    <p:embeddedFont>
      <p:font typeface="Instrument Sans Medium"/>
      <p:regular r:id="rId17"/>
    </p:embeddedFont>
    <p:embeddedFont>
      <p:font typeface="Instrument Sans Medium"/>
      <p:regular r:id="rId18"/>
    </p:embeddedFont>
    <p:embeddedFont>
      <p:font typeface="Instrument Sans Medium"/>
      <p:regular r:id="rId19"/>
    </p:embeddedFont>
    <p:embeddedFont>
      <p:font typeface="Instrument Sans Medium"/>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1870710"/>
            <a:ext cx="7556421" cy="2835116"/>
          </a:xfrm>
          <a:prstGeom prst="rect">
            <a:avLst/>
          </a:prstGeom>
          <a:noFill/>
          <a:ln/>
        </p:spPr>
        <p:txBody>
          <a:bodyPr wrap="square" lIns="0" tIns="0" rIns="0" bIns="0" rtlCol="0" anchor="t"/>
          <a:lstStyle/>
          <a:p>
            <a:pPr algn="l" indent="0" marL="0">
              <a:lnSpc>
                <a:spcPts val="5550"/>
              </a:lnSpc>
              <a:buNone/>
            </a:pPr>
            <a:r>
              <a:rPr lang="en-US" sz="4450" dirty="0">
                <a:solidFill>
                  <a:srgbClr val="091C53"/>
                </a:solidFill>
                <a:latin typeface="Instrument Sans Semi Bold" pitchFamily="34" charset="0"/>
                <a:ea typeface="Instrument Sans Semi Bold" pitchFamily="34" charset="-122"/>
                <a:cs typeface="Instrument Sans Semi Bold" pitchFamily="34" charset="-120"/>
              </a:rPr>
              <a:t>Shape Detection and Object Counting using Connected Component Labeling and Shape Descriptors</a:t>
            </a:r>
            <a:endParaRPr lang="en-US" sz="4450" dirty="0"/>
          </a:p>
        </p:txBody>
      </p:sp>
      <p:sp>
        <p:nvSpPr>
          <p:cNvPr id="4" name="Text 1"/>
          <p:cNvSpPr/>
          <p:nvPr/>
        </p:nvSpPr>
        <p:spPr>
          <a:xfrm>
            <a:off x="6280190" y="5045988"/>
            <a:ext cx="7556421" cy="362903"/>
          </a:xfrm>
          <a:prstGeom prst="rect">
            <a:avLst/>
          </a:prstGeom>
          <a:noFill/>
          <a:ln/>
        </p:spPr>
        <p:txBody>
          <a:bodyPr wrap="none" lIns="0" tIns="0" rIns="0" bIns="0" rtlCol="0" anchor="t"/>
          <a:lstStyle/>
          <a:p>
            <a:pPr algn="l" indent="0" marL="0">
              <a:lnSpc>
                <a:spcPts val="285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21CSE454T – Computer Vision</a:t>
            </a:r>
            <a:endParaRPr lang="en-US" sz="1750" dirty="0"/>
          </a:p>
        </p:txBody>
      </p:sp>
      <p:sp>
        <p:nvSpPr>
          <p:cNvPr id="5" name="Text 2"/>
          <p:cNvSpPr/>
          <p:nvPr/>
        </p:nvSpPr>
        <p:spPr>
          <a:xfrm>
            <a:off x="6280190" y="5664041"/>
            <a:ext cx="7556421" cy="290274"/>
          </a:xfrm>
          <a:prstGeom prst="rect">
            <a:avLst/>
          </a:prstGeom>
          <a:noFill/>
          <a:ln/>
        </p:spPr>
        <p:txBody>
          <a:bodyPr wrap="none" lIns="0" tIns="0" rIns="0" bIns="0" rtlCol="0" anchor="t"/>
          <a:lstStyle/>
          <a:p>
            <a:pPr algn="l" indent="0" marL="0">
              <a:lnSpc>
                <a:spcPts val="22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SRM Institute of Science and Technology</a:t>
            </a:r>
            <a:endParaRPr lang="en-US" sz="1400" dirty="0"/>
          </a:p>
        </p:txBody>
      </p:sp>
      <p:sp>
        <p:nvSpPr>
          <p:cNvPr id="6" name="Shape 3"/>
          <p:cNvSpPr/>
          <p:nvPr/>
        </p:nvSpPr>
        <p:spPr>
          <a:xfrm>
            <a:off x="6280190" y="6322847"/>
            <a:ext cx="7556421" cy="35957"/>
          </a:xfrm>
          <a:prstGeom prst="rect">
            <a:avLst/>
          </a:prstGeom>
          <a:solidFill>
            <a:srgbClr val="1E3063">
              <a:alpha val="50000"/>
            </a:srgbClr>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89503" y="846534"/>
            <a:ext cx="4511397" cy="563880"/>
          </a:xfrm>
          <a:prstGeom prst="rect">
            <a:avLst/>
          </a:prstGeom>
          <a:noFill/>
          <a:ln/>
        </p:spPr>
        <p:txBody>
          <a:bodyPr wrap="none" lIns="0" tIns="0" rIns="0" bIns="0" rtlCol="0" anchor="t"/>
          <a:lstStyle/>
          <a:p>
            <a:pPr algn="l" indent="0" marL="0">
              <a:lnSpc>
                <a:spcPts val="4400"/>
              </a:lnSpc>
              <a:buNone/>
            </a:pPr>
            <a:r>
              <a:rPr lang="en-US" sz="3550" dirty="0">
                <a:solidFill>
                  <a:srgbClr val="091C53"/>
                </a:solidFill>
                <a:latin typeface="Instrument Sans Semi Bold" pitchFamily="34" charset="0"/>
                <a:ea typeface="Instrument Sans Semi Bold" pitchFamily="34" charset="-122"/>
                <a:cs typeface="Instrument Sans Semi Bold" pitchFamily="34" charset="-120"/>
              </a:rPr>
              <a:t>Aim &amp; Objectives</a:t>
            </a:r>
            <a:endParaRPr lang="en-US" sz="3550" dirty="0"/>
          </a:p>
        </p:txBody>
      </p:sp>
      <p:sp>
        <p:nvSpPr>
          <p:cNvPr id="3" name="Text 1"/>
          <p:cNvSpPr/>
          <p:nvPr/>
        </p:nvSpPr>
        <p:spPr>
          <a:xfrm>
            <a:off x="789503" y="1500545"/>
            <a:ext cx="2819638" cy="352425"/>
          </a:xfrm>
          <a:prstGeom prst="rect">
            <a:avLst/>
          </a:prstGeom>
          <a:noFill/>
          <a:ln/>
        </p:spPr>
        <p:txBody>
          <a:bodyPr wrap="none" lIns="0" tIns="0" rIns="0" bIns="0" rtlCol="0" anchor="t"/>
          <a:lstStyle/>
          <a:p>
            <a:pPr algn="l" indent="0" marL="0">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Aim</a:t>
            </a:r>
            <a:endParaRPr lang="en-US" sz="2200" dirty="0"/>
          </a:p>
        </p:txBody>
      </p:sp>
      <p:sp>
        <p:nvSpPr>
          <p:cNvPr id="4" name="Text 2"/>
          <p:cNvSpPr/>
          <p:nvPr/>
        </p:nvSpPr>
        <p:spPr>
          <a:xfrm>
            <a:off x="789503" y="2078474"/>
            <a:ext cx="6250543" cy="1082993"/>
          </a:xfrm>
          <a:prstGeom prst="rect">
            <a:avLst/>
          </a:prstGeom>
          <a:noFill/>
          <a:ln/>
        </p:spPr>
        <p:txBody>
          <a:bodyPr wrap="square" lIns="0" tIns="0" rIns="0" bIns="0" rtlCol="0" anchor="t"/>
          <a:lstStyle/>
          <a:p>
            <a:pPr algn="l" indent="0" marL="0">
              <a:lnSpc>
                <a:spcPts val="2800"/>
              </a:lnSpc>
              <a:buNone/>
            </a:pPr>
            <a:r>
              <a:rPr lang="en-US" sz="1750" dirty="0">
                <a:solidFill>
                  <a:srgbClr val="1E3063"/>
                </a:solidFill>
                <a:latin typeface="Instrument Sans Medium" pitchFamily="34" charset="0"/>
                <a:ea typeface="Instrument Sans Medium" pitchFamily="34" charset="-122"/>
                <a:cs typeface="Instrument Sans Medium" pitchFamily="34" charset="-120"/>
              </a:rPr>
              <a:t>Detect, label, and count distinct geometric shapes using connected component labeling and advanced shape descriptors for robust object recognition.</a:t>
            </a:r>
            <a:endParaRPr lang="en-US" sz="1750" dirty="0"/>
          </a:p>
        </p:txBody>
      </p:sp>
      <p:sp>
        <p:nvSpPr>
          <p:cNvPr id="5" name="Text 3"/>
          <p:cNvSpPr/>
          <p:nvPr/>
        </p:nvSpPr>
        <p:spPr>
          <a:xfrm>
            <a:off x="789503" y="3386971"/>
            <a:ext cx="2819638" cy="352425"/>
          </a:xfrm>
          <a:prstGeom prst="rect">
            <a:avLst/>
          </a:prstGeom>
          <a:noFill/>
          <a:ln/>
        </p:spPr>
        <p:txBody>
          <a:bodyPr wrap="none" lIns="0" tIns="0" rIns="0" bIns="0" rtlCol="0" anchor="t"/>
          <a:lstStyle/>
          <a:p>
            <a:pPr algn="l" indent="0" marL="0">
              <a:lnSpc>
                <a:spcPts val="2750"/>
              </a:lnSpc>
              <a:buNone/>
            </a:pPr>
            <a:r>
              <a:rPr lang="en-US" sz="2200" dirty="0">
                <a:solidFill>
                  <a:srgbClr val="091C53"/>
                </a:solidFill>
                <a:latin typeface="Instrument Sans Semi Bold" pitchFamily="34" charset="0"/>
                <a:ea typeface="Instrument Sans Semi Bold" pitchFamily="34" charset="-122"/>
                <a:cs typeface="Instrument Sans Semi Bold" pitchFamily="34" charset="-120"/>
              </a:rPr>
              <a:t>Objectives</a:t>
            </a:r>
            <a:endParaRPr lang="en-US" sz="2200" dirty="0"/>
          </a:p>
        </p:txBody>
      </p:sp>
      <p:sp>
        <p:nvSpPr>
          <p:cNvPr id="6" name="Text 4"/>
          <p:cNvSpPr/>
          <p:nvPr/>
        </p:nvSpPr>
        <p:spPr>
          <a:xfrm>
            <a:off x="789503" y="3964900"/>
            <a:ext cx="6250543" cy="721995"/>
          </a:xfrm>
          <a:prstGeom prst="rect">
            <a:avLst/>
          </a:prstGeom>
          <a:noFill/>
          <a:ln/>
        </p:spPr>
        <p:txBody>
          <a:bodyPr wrap="square" lIns="0" tIns="0" rIns="0" bIns="0" rtlCol="0" anchor="t"/>
          <a:lstStyle/>
          <a:p>
            <a:pPr algn="l" marL="342900" indent="-342900">
              <a:lnSpc>
                <a:spcPts val="2800"/>
              </a:lnSpc>
              <a:buSzPct val="100000"/>
              <a:buFont typeface="+mj-lt"/>
              <a:buAutoNum type="arabicPeriod" startAt="1"/>
            </a:pPr>
            <a:r>
              <a:rPr lang="en-US" sz="1750" dirty="0">
                <a:solidFill>
                  <a:srgbClr val="1E3063"/>
                </a:solidFill>
                <a:latin typeface="Instrument Sans Medium" pitchFamily="34" charset="0"/>
                <a:ea typeface="Instrument Sans Medium" pitchFamily="34" charset="-122"/>
                <a:cs typeface="Instrument Sans Medium" pitchFamily="34" charset="-120"/>
              </a:rPr>
              <a:t>Perform binary shape analysis using adaptive thresholding techniques</a:t>
            </a:r>
            <a:endParaRPr lang="en-US" sz="1750" dirty="0"/>
          </a:p>
        </p:txBody>
      </p:sp>
      <p:sp>
        <p:nvSpPr>
          <p:cNvPr id="7" name="Text 5"/>
          <p:cNvSpPr/>
          <p:nvPr/>
        </p:nvSpPr>
        <p:spPr>
          <a:xfrm>
            <a:off x="789503" y="4765834"/>
            <a:ext cx="6250543" cy="721995"/>
          </a:xfrm>
          <a:prstGeom prst="rect">
            <a:avLst/>
          </a:prstGeom>
          <a:noFill/>
          <a:ln/>
        </p:spPr>
        <p:txBody>
          <a:bodyPr wrap="square" lIns="0" tIns="0" rIns="0" bIns="0" rtlCol="0" anchor="t"/>
          <a:lstStyle/>
          <a:p>
            <a:pPr algn="l" marL="342900" indent="-342900">
              <a:lnSpc>
                <a:spcPts val="2800"/>
              </a:lnSpc>
              <a:buSzPct val="100000"/>
              <a:buFont typeface="+mj-lt"/>
              <a:buAutoNum type="arabicPeriod" startAt="2"/>
            </a:pPr>
            <a:r>
              <a:rPr lang="en-US" sz="1750" dirty="0">
                <a:solidFill>
                  <a:srgbClr val="1E3063"/>
                </a:solidFill>
                <a:latin typeface="Instrument Sans Medium" pitchFamily="34" charset="0"/>
                <a:ea typeface="Instrument Sans Medium" pitchFamily="34" charset="-122"/>
                <a:cs typeface="Instrument Sans Medium" pitchFamily="34" charset="-120"/>
              </a:rPr>
              <a:t>Apply 8-connectivity for accurate object labeling and counting</a:t>
            </a:r>
            <a:endParaRPr lang="en-US" sz="1750" dirty="0"/>
          </a:p>
        </p:txBody>
      </p:sp>
      <p:sp>
        <p:nvSpPr>
          <p:cNvPr id="8" name="Text 6"/>
          <p:cNvSpPr/>
          <p:nvPr/>
        </p:nvSpPr>
        <p:spPr>
          <a:xfrm>
            <a:off x="789503" y="5566767"/>
            <a:ext cx="6250543" cy="360998"/>
          </a:xfrm>
          <a:prstGeom prst="rect">
            <a:avLst/>
          </a:prstGeom>
          <a:noFill/>
          <a:ln/>
        </p:spPr>
        <p:txBody>
          <a:bodyPr wrap="none" lIns="0" tIns="0" rIns="0" bIns="0" rtlCol="0" anchor="t"/>
          <a:lstStyle/>
          <a:p>
            <a:pPr algn="l" marL="342900" indent="-342900">
              <a:lnSpc>
                <a:spcPts val="2800"/>
              </a:lnSpc>
              <a:buSzPct val="100000"/>
              <a:buFont typeface="+mj-lt"/>
              <a:buAutoNum type="arabicPeriod" startAt="3"/>
            </a:pPr>
            <a:r>
              <a:rPr lang="en-US" sz="1750" dirty="0">
                <a:solidFill>
                  <a:srgbClr val="1E3063"/>
                </a:solidFill>
                <a:latin typeface="Instrument Sans Medium" pitchFamily="34" charset="0"/>
                <a:ea typeface="Instrument Sans Medium" pitchFamily="34" charset="-122"/>
                <a:cs typeface="Instrument Sans Medium" pitchFamily="34" charset="-120"/>
              </a:rPr>
              <a:t>Filter small components to enhance shape clarity</a:t>
            </a:r>
            <a:endParaRPr lang="en-US" sz="1750" dirty="0"/>
          </a:p>
        </p:txBody>
      </p:sp>
      <p:sp>
        <p:nvSpPr>
          <p:cNvPr id="9" name="Text 7"/>
          <p:cNvSpPr/>
          <p:nvPr/>
        </p:nvSpPr>
        <p:spPr>
          <a:xfrm>
            <a:off x="789503" y="6006703"/>
            <a:ext cx="6250543" cy="721995"/>
          </a:xfrm>
          <a:prstGeom prst="rect">
            <a:avLst/>
          </a:prstGeom>
          <a:noFill/>
          <a:ln/>
        </p:spPr>
        <p:txBody>
          <a:bodyPr wrap="square" lIns="0" tIns="0" rIns="0" bIns="0" rtlCol="0" anchor="t"/>
          <a:lstStyle/>
          <a:p>
            <a:pPr algn="l" marL="342900" indent="-342900">
              <a:lnSpc>
                <a:spcPts val="2800"/>
              </a:lnSpc>
              <a:buSzPct val="100000"/>
              <a:buFont typeface="+mj-lt"/>
              <a:buAutoNum type="arabicPeriod" startAt="4"/>
            </a:pPr>
            <a:r>
              <a:rPr lang="en-US" sz="1750" dirty="0">
                <a:solidFill>
                  <a:srgbClr val="1E3063"/>
                </a:solidFill>
                <a:latin typeface="Instrument Sans Medium" pitchFamily="34" charset="0"/>
                <a:ea typeface="Instrument Sans Medium" pitchFamily="34" charset="-122"/>
                <a:cs typeface="Instrument Sans Medium" pitchFamily="34" charset="-120"/>
              </a:rPr>
              <a:t>Extract region properties including centroid, area, and moment invariants</a:t>
            </a:r>
            <a:endParaRPr lang="en-US" sz="1750" dirty="0"/>
          </a:p>
        </p:txBody>
      </p:sp>
      <p:sp>
        <p:nvSpPr>
          <p:cNvPr id="10" name="Text 8"/>
          <p:cNvSpPr/>
          <p:nvPr/>
        </p:nvSpPr>
        <p:spPr>
          <a:xfrm>
            <a:off x="789503" y="6807637"/>
            <a:ext cx="6250543" cy="721995"/>
          </a:xfrm>
          <a:prstGeom prst="rect">
            <a:avLst/>
          </a:prstGeom>
          <a:noFill/>
          <a:ln/>
        </p:spPr>
        <p:txBody>
          <a:bodyPr wrap="square" lIns="0" tIns="0" rIns="0" bIns="0" rtlCol="0" anchor="t"/>
          <a:lstStyle/>
          <a:p>
            <a:pPr algn="l" marL="342900" indent="-342900">
              <a:lnSpc>
                <a:spcPts val="2800"/>
              </a:lnSpc>
              <a:buSzPct val="100000"/>
              <a:buFont typeface="+mj-lt"/>
              <a:buAutoNum type="arabicPeriod" startAt="5"/>
            </a:pPr>
            <a:r>
              <a:rPr lang="en-US" sz="1750" dirty="0">
                <a:solidFill>
                  <a:srgbClr val="1E3063"/>
                </a:solidFill>
                <a:latin typeface="Instrument Sans Medium" pitchFamily="34" charset="0"/>
                <a:ea typeface="Instrument Sans Medium" pitchFamily="34" charset="-122"/>
                <a:cs typeface="Instrument Sans Medium" pitchFamily="34" charset="-120"/>
              </a:rPr>
              <a:t>Classify shapes using contour approximation and Hu Moments</a:t>
            </a:r>
            <a:endParaRPr lang="en-US" sz="1750" dirty="0"/>
          </a:p>
        </p:txBody>
      </p:sp>
      <p:pic>
        <p:nvPicPr>
          <p:cNvPr id="11" name="Image 0" descr="preencoded.png">    </p:cNvPr>
          <p:cNvPicPr>
            <a:picLocks noChangeAspect="1"/>
          </p:cNvPicPr>
          <p:nvPr/>
        </p:nvPicPr>
        <p:blipFill>
          <a:blip r:embed="rId1"/>
          <a:stretch>
            <a:fillRect/>
          </a:stretch>
        </p:blipFill>
        <p:spPr>
          <a:xfrm>
            <a:off x="7597973" y="874752"/>
            <a:ext cx="5860494" cy="61918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73512" y="377071"/>
            <a:ext cx="4406384" cy="338257"/>
          </a:xfrm>
          <a:prstGeom prst="rect">
            <a:avLst/>
          </a:prstGeom>
          <a:noFill/>
          <a:ln/>
        </p:spPr>
        <p:txBody>
          <a:bodyPr wrap="none" lIns="0" tIns="0" rIns="0" bIns="0" rtlCol="0" anchor="t"/>
          <a:lstStyle/>
          <a:p>
            <a:pPr algn="l" indent="0" marL="0">
              <a:lnSpc>
                <a:spcPts val="2650"/>
              </a:lnSpc>
              <a:buNone/>
            </a:pPr>
            <a:r>
              <a:rPr lang="en-US" sz="2100" dirty="0">
                <a:solidFill>
                  <a:srgbClr val="091C53"/>
                </a:solidFill>
                <a:latin typeface="Instrument Sans Semi Bold" pitchFamily="34" charset="0"/>
                <a:ea typeface="Instrument Sans Semi Bold" pitchFamily="34" charset="-122"/>
                <a:cs typeface="Instrument Sans Semi Bold" pitchFamily="34" charset="-120"/>
              </a:rPr>
              <a:t>Methodology &amp; Algorithm Pipeline</a:t>
            </a:r>
            <a:endParaRPr lang="en-US" sz="2100" dirty="0"/>
          </a:p>
        </p:txBody>
      </p:sp>
      <p:sp>
        <p:nvSpPr>
          <p:cNvPr id="3" name="Text 1"/>
          <p:cNvSpPr/>
          <p:nvPr/>
        </p:nvSpPr>
        <p:spPr>
          <a:xfrm>
            <a:off x="473512" y="985837"/>
            <a:ext cx="13683377" cy="216337"/>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The shape detection workflow follows a systematic progression through multiple image processing stages, each refining the results for accurate object classification.</a:t>
            </a:r>
            <a:endParaRPr lang="en-US" sz="1050" dirty="0"/>
          </a:p>
        </p:txBody>
      </p:sp>
      <p:sp>
        <p:nvSpPr>
          <p:cNvPr id="4" name="Text 2"/>
          <p:cNvSpPr/>
          <p:nvPr/>
        </p:nvSpPr>
        <p:spPr>
          <a:xfrm>
            <a:off x="473512" y="1354336"/>
            <a:ext cx="135255" cy="169069"/>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Light" pitchFamily="34" charset="0"/>
                <a:ea typeface="Instrument Sans Light" pitchFamily="34" charset="-122"/>
                <a:cs typeface="Instrument Sans Light" pitchFamily="34" charset="-120"/>
              </a:rPr>
              <a:t>01</a:t>
            </a:r>
            <a:endParaRPr lang="en-US" sz="1050" dirty="0"/>
          </a:p>
        </p:txBody>
      </p:sp>
      <p:sp>
        <p:nvSpPr>
          <p:cNvPr id="5" name="Shape 3"/>
          <p:cNvSpPr/>
          <p:nvPr/>
        </p:nvSpPr>
        <p:spPr>
          <a:xfrm>
            <a:off x="473512" y="1569006"/>
            <a:ext cx="4470916" cy="15240"/>
          </a:xfrm>
          <a:prstGeom prst="rect">
            <a:avLst/>
          </a:prstGeom>
          <a:solidFill>
            <a:srgbClr val="84C1FA"/>
          </a:solidFill>
          <a:ln/>
        </p:spPr>
      </p:sp>
      <p:sp>
        <p:nvSpPr>
          <p:cNvPr id="6" name="Text 4"/>
          <p:cNvSpPr/>
          <p:nvPr/>
        </p:nvSpPr>
        <p:spPr>
          <a:xfrm>
            <a:off x="473512" y="1667113"/>
            <a:ext cx="1723668" cy="211455"/>
          </a:xfrm>
          <a:prstGeom prst="rect">
            <a:avLst/>
          </a:prstGeom>
          <a:noFill/>
          <a:ln/>
        </p:spPr>
        <p:txBody>
          <a:bodyPr wrap="none" lIns="0" tIns="0" rIns="0" bIns="0" rtlCol="0" anchor="t"/>
          <a:lstStyle/>
          <a:p>
            <a:pPr algn="l" indent="0" marL="0">
              <a:lnSpc>
                <a:spcPts val="165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Grayscale Conversion</a:t>
            </a:r>
            <a:endParaRPr lang="en-US" sz="1300" dirty="0"/>
          </a:p>
        </p:txBody>
      </p:sp>
      <p:sp>
        <p:nvSpPr>
          <p:cNvPr id="7" name="Text 5"/>
          <p:cNvSpPr/>
          <p:nvPr/>
        </p:nvSpPr>
        <p:spPr>
          <a:xfrm>
            <a:off x="473512" y="1959650"/>
            <a:ext cx="4470916" cy="432673"/>
          </a:xfrm>
          <a:prstGeom prst="rect">
            <a:avLst/>
          </a:prstGeom>
          <a:noFill/>
          <a:ln/>
        </p:spPr>
        <p:txBody>
          <a:bodyPr wrap="square" lIns="0" tIns="0" rIns="0" bIns="0" rtlCol="0" anchor="t"/>
          <a:lstStyle/>
          <a:p>
            <a:pPr algn="l" indent="0" marL="0">
              <a:lnSpc>
                <a:spcPts val="17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Transform input image to single-channel representation for efficient processing</a:t>
            </a:r>
            <a:endParaRPr lang="en-US" sz="1050" dirty="0"/>
          </a:p>
        </p:txBody>
      </p:sp>
      <p:sp>
        <p:nvSpPr>
          <p:cNvPr id="8" name="Text 6"/>
          <p:cNvSpPr/>
          <p:nvPr/>
        </p:nvSpPr>
        <p:spPr>
          <a:xfrm>
            <a:off x="5079683" y="1354336"/>
            <a:ext cx="135255" cy="169069"/>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Light" pitchFamily="34" charset="0"/>
                <a:ea typeface="Instrument Sans Light" pitchFamily="34" charset="-122"/>
                <a:cs typeface="Instrument Sans Light" pitchFamily="34" charset="-120"/>
              </a:rPr>
              <a:t>02</a:t>
            </a:r>
            <a:endParaRPr lang="en-US" sz="1050" dirty="0"/>
          </a:p>
        </p:txBody>
      </p:sp>
      <p:sp>
        <p:nvSpPr>
          <p:cNvPr id="9" name="Shape 7"/>
          <p:cNvSpPr/>
          <p:nvPr/>
        </p:nvSpPr>
        <p:spPr>
          <a:xfrm>
            <a:off x="5079683" y="1569006"/>
            <a:ext cx="4470916" cy="15240"/>
          </a:xfrm>
          <a:prstGeom prst="rect">
            <a:avLst/>
          </a:prstGeom>
          <a:solidFill>
            <a:srgbClr val="84C1FA"/>
          </a:solidFill>
          <a:ln/>
        </p:spPr>
      </p:sp>
      <p:sp>
        <p:nvSpPr>
          <p:cNvPr id="10" name="Text 8"/>
          <p:cNvSpPr/>
          <p:nvPr/>
        </p:nvSpPr>
        <p:spPr>
          <a:xfrm>
            <a:off x="5079683" y="1667113"/>
            <a:ext cx="1691283" cy="211455"/>
          </a:xfrm>
          <a:prstGeom prst="rect">
            <a:avLst/>
          </a:prstGeom>
          <a:noFill/>
          <a:ln/>
        </p:spPr>
        <p:txBody>
          <a:bodyPr wrap="none" lIns="0" tIns="0" rIns="0" bIns="0" rtlCol="0" anchor="t"/>
          <a:lstStyle/>
          <a:p>
            <a:pPr algn="l" indent="0" marL="0">
              <a:lnSpc>
                <a:spcPts val="165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Binary Thresholding</a:t>
            </a:r>
            <a:endParaRPr lang="en-US" sz="1300" dirty="0"/>
          </a:p>
        </p:txBody>
      </p:sp>
      <p:sp>
        <p:nvSpPr>
          <p:cNvPr id="11" name="Text 9"/>
          <p:cNvSpPr/>
          <p:nvPr/>
        </p:nvSpPr>
        <p:spPr>
          <a:xfrm>
            <a:off x="5079683" y="1959650"/>
            <a:ext cx="4470916" cy="432673"/>
          </a:xfrm>
          <a:prstGeom prst="rect">
            <a:avLst/>
          </a:prstGeom>
          <a:noFill/>
          <a:ln/>
        </p:spPr>
        <p:txBody>
          <a:bodyPr wrap="square" lIns="0" tIns="0" rIns="0" bIns="0" rtlCol="0" anchor="t"/>
          <a:lstStyle/>
          <a:p>
            <a:pPr algn="l" indent="0" marL="0">
              <a:lnSpc>
                <a:spcPts val="17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Apply threshold to create binary image isolating shapes from background</a:t>
            </a:r>
            <a:endParaRPr lang="en-US" sz="1050" dirty="0"/>
          </a:p>
        </p:txBody>
      </p:sp>
      <p:sp>
        <p:nvSpPr>
          <p:cNvPr id="12" name="Text 10"/>
          <p:cNvSpPr/>
          <p:nvPr/>
        </p:nvSpPr>
        <p:spPr>
          <a:xfrm>
            <a:off x="9685853" y="1354336"/>
            <a:ext cx="135255" cy="169069"/>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Light" pitchFamily="34" charset="0"/>
                <a:ea typeface="Instrument Sans Light" pitchFamily="34" charset="-122"/>
                <a:cs typeface="Instrument Sans Light" pitchFamily="34" charset="-120"/>
              </a:rPr>
              <a:t>03</a:t>
            </a:r>
            <a:endParaRPr lang="en-US" sz="1050" dirty="0"/>
          </a:p>
        </p:txBody>
      </p:sp>
      <p:sp>
        <p:nvSpPr>
          <p:cNvPr id="13" name="Shape 11"/>
          <p:cNvSpPr/>
          <p:nvPr/>
        </p:nvSpPr>
        <p:spPr>
          <a:xfrm>
            <a:off x="9685853" y="1569006"/>
            <a:ext cx="4470916" cy="15240"/>
          </a:xfrm>
          <a:prstGeom prst="rect">
            <a:avLst/>
          </a:prstGeom>
          <a:solidFill>
            <a:srgbClr val="84C1FA"/>
          </a:solidFill>
          <a:ln/>
        </p:spPr>
      </p:sp>
      <p:sp>
        <p:nvSpPr>
          <p:cNvPr id="14" name="Text 12"/>
          <p:cNvSpPr/>
          <p:nvPr/>
        </p:nvSpPr>
        <p:spPr>
          <a:xfrm>
            <a:off x="9685853" y="1667113"/>
            <a:ext cx="2608421" cy="211455"/>
          </a:xfrm>
          <a:prstGeom prst="rect">
            <a:avLst/>
          </a:prstGeom>
          <a:noFill/>
          <a:ln/>
        </p:spPr>
        <p:txBody>
          <a:bodyPr wrap="none" lIns="0" tIns="0" rIns="0" bIns="0" rtlCol="0" anchor="t"/>
          <a:lstStyle/>
          <a:p>
            <a:pPr algn="l" indent="0" marL="0">
              <a:lnSpc>
                <a:spcPts val="165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Connected Component Labeling</a:t>
            </a:r>
            <a:endParaRPr lang="en-US" sz="1300" dirty="0"/>
          </a:p>
        </p:txBody>
      </p:sp>
      <p:sp>
        <p:nvSpPr>
          <p:cNvPr id="15" name="Text 13"/>
          <p:cNvSpPr/>
          <p:nvPr/>
        </p:nvSpPr>
        <p:spPr>
          <a:xfrm>
            <a:off x="9685853" y="1959650"/>
            <a:ext cx="4470916" cy="216337"/>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Label each distinct object using 8-connectivity rules and counting</a:t>
            </a:r>
            <a:endParaRPr lang="en-US" sz="1050" dirty="0"/>
          </a:p>
        </p:txBody>
      </p:sp>
      <p:sp>
        <p:nvSpPr>
          <p:cNvPr id="16" name="Text 14"/>
          <p:cNvSpPr/>
          <p:nvPr/>
        </p:nvSpPr>
        <p:spPr>
          <a:xfrm>
            <a:off x="473512" y="2629019"/>
            <a:ext cx="135255" cy="169069"/>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Light" pitchFamily="34" charset="0"/>
                <a:ea typeface="Instrument Sans Light" pitchFamily="34" charset="-122"/>
                <a:cs typeface="Instrument Sans Light" pitchFamily="34" charset="-120"/>
              </a:rPr>
              <a:t>04</a:t>
            </a:r>
            <a:endParaRPr lang="en-US" sz="1050" dirty="0"/>
          </a:p>
        </p:txBody>
      </p:sp>
      <p:sp>
        <p:nvSpPr>
          <p:cNvPr id="17" name="Shape 15"/>
          <p:cNvSpPr/>
          <p:nvPr/>
        </p:nvSpPr>
        <p:spPr>
          <a:xfrm>
            <a:off x="473512" y="2843689"/>
            <a:ext cx="6773942" cy="15240"/>
          </a:xfrm>
          <a:prstGeom prst="rect">
            <a:avLst/>
          </a:prstGeom>
          <a:solidFill>
            <a:srgbClr val="84C1FA"/>
          </a:solidFill>
          <a:ln/>
        </p:spPr>
      </p:sp>
      <p:sp>
        <p:nvSpPr>
          <p:cNvPr id="18" name="Text 16"/>
          <p:cNvSpPr/>
          <p:nvPr/>
        </p:nvSpPr>
        <p:spPr>
          <a:xfrm>
            <a:off x="473512" y="2941796"/>
            <a:ext cx="1691283" cy="211455"/>
          </a:xfrm>
          <a:prstGeom prst="rect">
            <a:avLst/>
          </a:prstGeom>
          <a:noFill/>
          <a:ln/>
        </p:spPr>
        <p:txBody>
          <a:bodyPr wrap="none" lIns="0" tIns="0" rIns="0" bIns="0" rtlCol="0" anchor="t"/>
          <a:lstStyle/>
          <a:p>
            <a:pPr algn="l" indent="0" marL="0">
              <a:lnSpc>
                <a:spcPts val="165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Size Filtering</a:t>
            </a:r>
            <a:endParaRPr lang="en-US" sz="1300" dirty="0"/>
          </a:p>
        </p:txBody>
      </p:sp>
      <p:sp>
        <p:nvSpPr>
          <p:cNvPr id="19" name="Text 17"/>
          <p:cNvSpPr/>
          <p:nvPr/>
        </p:nvSpPr>
        <p:spPr>
          <a:xfrm>
            <a:off x="473512" y="3234333"/>
            <a:ext cx="6773942" cy="216337"/>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Remove noise and small artifacts for cleaner shape analysis</a:t>
            </a:r>
            <a:endParaRPr lang="en-US" sz="1050" dirty="0"/>
          </a:p>
        </p:txBody>
      </p:sp>
      <p:sp>
        <p:nvSpPr>
          <p:cNvPr id="20" name="Text 18"/>
          <p:cNvSpPr/>
          <p:nvPr/>
        </p:nvSpPr>
        <p:spPr>
          <a:xfrm>
            <a:off x="7382708" y="2629019"/>
            <a:ext cx="135255" cy="169069"/>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Light" pitchFamily="34" charset="0"/>
                <a:ea typeface="Instrument Sans Light" pitchFamily="34" charset="-122"/>
                <a:cs typeface="Instrument Sans Light" pitchFamily="34" charset="-120"/>
              </a:rPr>
              <a:t>05</a:t>
            </a:r>
            <a:endParaRPr lang="en-US" sz="1050" dirty="0"/>
          </a:p>
        </p:txBody>
      </p:sp>
      <p:sp>
        <p:nvSpPr>
          <p:cNvPr id="21" name="Shape 19"/>
          <p:cNvSpPr/>
          <p:nvPr/>
        </p:nvSpPr>
        <p:spPr>
          <a:xfrm>
            <a:off x="7382708" y="2843689"/>
            <a:ext cx="6774061" cy="15240"/>
          </a:xfrm>
          <a:prstGeom prst="rect">
            <a:avLst/>
          </a:prstGeom>
          <a:solidFill>
            <a:srgbClr val="84C1FA"/>
          </a:solidFill>
          <a:ln/>
        </p:spPr>
      </p:sp>
      <p:sp>
        <p:nvSpPr>
          <p:cNvPr id="22" name="Text 20"/>
          <p:cNvSpPr/>
          <p:nvPr/>
        </p:nvSpPr>
        <p:spPr>
          <a:xfrm>
            <a:off x="7382708" y="2941796"/>
            <a:ext cx="2762131" cy="211455"/>
          </a:xfrm>
          <a:prstGeom prst="rect">
            <a:avLst/>
          </a:prstGeom>
          <a:noFill/>
          <a:ln/>
        </p:spPr>
        <p:txBody>
          <a:bodyPr wrap="none" lIns="0" tIns="0" rIns="0" bIns="0" rtlCol="0" anchor="t"/>
          <a:lstStyle/>
          <a:p>
            <a:pPr algn="l" indent="0" marL="0">
              <a:lnSpc>
                <a:spcPts val="1650"/>
              </a:lnSpc>
              <a:buNone/>
            </a:pPr>
            <a:r>
              <a:rPr lang="en-US" sz="1300" dirty="0">
                <a:solidFill>
                  <a:srgbClr val="1E3063"/>
                </a:solidFill>
                <a:latin typeface="Instrument Sans Semi Bold" pitchFamily="34" charset="0"/>
                <a:ea typeface="Instrument Sans Semi Bold" pitchFamily="34" charset="-122"/>
                <a:cs typeface="Instrument Sans Semi Bold" pitchFamily="34" charset="-120"/>
              </a:rPr>
              <a:t>Contour Detection &amp; Classification</a:t>
            </a:r>
            <a:endParaRPr lang="en-US" sz="1300" dirty="0"/>
          </a:p>
        </p:txBody>
      </p:sp>
      <p:sp>
        <p:nvSpPr>
          <p:cNvPr id="23" name="Text 21"/>
          <p:cNvSpPr/>
          <p:nvPr/>
        </p:nvSpPr>
        <p:spPr>
          <a:xfrm>
            <a:off x="7382708" y="3234333"/>
            <a:ext cx="6774061" cy="216337"/>
          </a:xfrm>
          <a:prstGeom prst="rect">
            <a:avLst/>
          </a:prstGeom>
          <a:noFill/>
          <a:ln/>
        </p:spPr>
        <p:txBody>
          <a:bodyPr wrap="none" lIns="0" tIns="0" rIns="0" bIns="0" rtlCol="0" anchor="t"/>
          <a:lstStyle/>
          <a:p>
            <a:pPr algn="l" indent="0" marL="0">
              <a:lnSpc>
                <a:spcPts val="1700"/>
              </a:lnSpc>
              <a:buNone/>
            </a:pPr>
            <a:r>
              <a:rPr lang="en-US" sz="1050" dirty="0">
                <a:solidFill>
                  <a:srgbClr val="1E3063"/>
                </a:solidFill>
                <a:latin typeface="Instrument Sans Medium" pitchFamily="34" charset="0"/>
                <a:ea typeface="Instrument Sans Medium" pitchFamily="34" charset="-122"/>
                <a:cs typeface="Instrument Sans Medium" pitchFamily="34" charset="-120"/>
              </a:rPr>
              <a:t>Identify shape boundaries and classify using moment invariants</a:t>
            </a:r>
            <a:endParaRPr lang="en-US" sz="1050" dirty="0"/>
          </a:p>
        </p:txBody>
      </p:sp>
      <p:sp>
        <p:nvSpPr>
          <p:cNvPr id="24" name="Text 22"/>
          <p:cNvSpPr/>
          <p:nvPr/>
        </p:nvSpPr>
        <p:spPr>
          <a:xfrm>
            <a:off x="473512" y="3704273"/>
            <a:ext cx="13683377" cy="216337"/>
          </a:xfrm>
          <a:prstGeom prst="rect">
            <a:avLst/>
          </a:prstGeom>
          <a:noFill/>
          <a:ln/>
        </p:spPr>
        <p:txBody>
          <a:bodyPr wrap="none" lIns="0" tIns="0" rIns="0" bIns="0" rtlCol="0" anchor="t"/>
          <a:lstStyle/>
          <a:p>
            <a:pPr algn="l" indent="0" marL="0">
              <a:lnSpc>
                <a:spcPts val="1700"/>
              </a:lnSpc>
              <a:buNone/>
            </a:pPr>
            <a:endParaRPr lang="en-US" sz="1050" dirty="0"/>
          </a:p>
        </p:txBody>
      </p:sp>
      <p:pic>
        <p:nvPicPr>
          <p:cNvPr id="25" name="Image 0" descr="preencoded.png">    </p:cNvPr>
          <p:cNvPicPr>
            <a:picLocks noChangeAspect="1"/>
          </p:cNvPicPr>
          <p:nvPr/>
        </p:nvPicPr>
        <p:blipFill>
          <a:blip r:embed="rId1"/>
          <a:stretch>
            <a:fillRect/>
          </a:stretch>
        </p:blipFill>
        <p:spPr>
          <a:xfrm>
            <a:off x="473512" y="4224933"/>
            <a:ext cx="3289459" cy="3475434"/>
          </a:xfrm>
          <a:prstGeom prst="rect">
            <a:avLst/>
          </a:prstGeom>
        </p:spPr>
      </p:pic>
      <p:pic>
        <p:nvPicPr>
          <p:cNvPr id="26" name="Image 1" descr="preencoded.png">    </p:cNvPr>
          <p:cNvPicPr>
            <a:picLocks noChangeAspect="1"/>
          </p:cNvPicPr>
          <p:nvPr/>
        </p:nvPicPr>
        <p:blipFill>
          <a:blip r:embed="rId2"/>
          <a:stretch>
            <a:fillRect/>
          </a:stretch>
        </p:blipFill>
        <p:spPr>
          <a:xfrm>
            <a:off x="7487841" y="4224933"/>
            <a:ext cx="3284815" cy="347055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2330" y="551378"/>
            <a:ext cx="5455087" cy="387310"/>
          </a:xfrm>
          <a:prstGeom prst="rect">
            <a:avLst/>
          </a:prstGeom>
          <a:noFill/>
          <a:ln/>
        </p:spPr>
        <p:txBody>
          <a:bodyPr wrap="none" lIns="0" tIns="0" rIns="0" bIns="0" rtlCol="0" anchor="t"/>
          <a:lstStyle/>
          <a:p>
            <a:pPr algn="l" indent="0" marL="0">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Implementation &amp; Shape Recognition</a:t>
            </a:r>
            <a:endParaRPr lang="en-US" sz="2400" dirty="0"/>
          </a:p>
        </p:txBody>
      </p:sp>
      <p:sp>
        <p:nvSpPr>
          <p:cNvPr id="3" name="Shape 1"/>
          <p:cNvSpPr/>
          <p:nvPr/>
        </p:nvSpPr>
        <p:spPr>
          <a:xfrm>
            <a:off x="542330" y="1248608"/>
            <a:ext cx="4411980" cy="892731"/>
          </a:xfrm>
          <a:prstGeom prst="roundRect">
            <a:avLst>
              <a:gd name="adj" fmla="val 15624"/>
            </a:avLst>
          </a:prstGeom>
          <a:solidFill>
            <a:srgbClr val="CEE6FD"/>
          </a:solidFill>
          <a:ln/>
        </p:spPr>
      </p:sp>
      <p:sp>
        <p:nvSpPr>
          <p:cNvPr id="4" name="Text 2"/>
          <p:cNvSpPr/>
          <p:nvPr/>
        </p:nvSpPr>
        <p:spPr>
          <a:xfrm>
            <a:off x="697230" y="1403509"/>
            <a:ext cx="1937147" cy="242054"/>
          </a:xfrm>
          <a:prstGeom prst="rect">
            <a:avLst/>
          </a:prstGeom>
          <a:noFill/>
          <a:ln/>
        </p:spPr>
        <p:txBody>
          <a:bodyPr wrap="none" lIns="0" tIns="0" rIns="0" bIns="0" rtlCol="0" anchor="t"/>
          <a:lstStyle/>
          <a:p>
            <a:pPr algn="l" indent="0" marL="0">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Tools &amp; Libraries</a:t>
            </a:r>
            <a:endParaRPr lang="en-US" sz="1500" dirty="0"/>
          </a:p>
        </p:txBody>
      </p:sp>
      <p:sp>
        <p:nvSpPr>
          <p:cNvPr id="5" name="Text 3"/>
          <p:cNvSpPr/>
          <p:nvPr/>
        </p:nvSpPr>
        <p:spPr>
          <a:xfrm>
            <a:off x="697230" y="1738432"/>
            <a:ext cx="4102179" cy="248007"/>
          </a:xfrm>
          <a:prstGeom prst="rect">
            <a:avLst/>
          </a:prstGeom>
          <a:noFill/>
          <a:ln/>
        </p:spPr>
        <p:txBody>
          <a:bodyPr wrap="none" lIns="0" tIns="0" rIns="0" bIns="0" rtlCol="0" anchor="t"/>
          <a:lstStyle/>
          <a:p>
            <a:pPr algn="l" indent="0" marL="0">
              <a:lnSpc>
                <a:spcPts val="195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Python, OpenCV, NumPy, Matplotlib, Google Colab</a:t>
            </a:r>
            <a:endParaRPr lang="en-US" sz="1200" dirty="0"/>
          </a:p>
        </p:txBody>
      </p:sp>
      <p:sp>
        <p:nvSpPr>
          <p:cNvPr id="6" name="Shape 4"/>
          <p:cNvSpPr/>
          <p:nvPr/>
        </p:nvSpPr>
        <p:spPr>
          <a:xfrm>
            <a:off x="5109210" y="1248608"/>
            <a:ext cx="4411980" cy="892731"/>
          </a:xfrm>
          <a:prstGeom prst="roundRect">
            <a:avLst>
              <a:gd name="adj" fmla="val 15624"/>
            </a:avLst>
          </a:prstGeom>
          <a:solidFill>
            <a:srgbClr val="CEE6FD"/>
          </a:solidFill>
          <a:ln/>
        </p:spPr>
      </p:sp>
      <p:sp>
        <p:nvSpPr>
          <p:cNvPr id="7" name="Text 5"/>
          <p:cNvSpPr/>
          <p:nvPr/>
        </p:nvSpPr>
        <p:spPr>
          <a:xfrm>
            <a:off x="5264110" y="1403509"/>
            <a:ext cx="1937147" cy="242054"/>
          </a:xfrm>
          <a:prstGeom prst="rect">
            <a:avLst/>
          </a:prstGeom>
          <a:noFill/>
          <a:ln/>
        </p:spPr>
        <p:txBody>
          <a:bodyPr wrap="none" lIns="0" tIns="0" rIns="0" bIns="0" rtlCol="0" anchor="t"/>
          <a:lstStyle/>
          <a:p>
            <a:pPr algn="l" indent="0" marL="0">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Dataset</a:t>
            </a:r>
            <a:endParaRPr lang="en-US" sz="1500" dirty="0"/>
          </a:p>
        </p:txBody>
      </p:sp>
      <p:sp>
        <p:nvSpPr>
          <p:cNvPr id="8" name="Text 6"/>
          <p:cNvSpPr/>
          <p:nvPr/>
        </p:nvSpPr>
        <p:spPr>
          <a:xfrm>
            <a:off x="5264110" y="1738432"/>
            <a:ext cx="4102179" cy="248007"/>
          </a:xfrm>
          <a:prstGeom prst="rect">
            <a:avLst/>
          </a:prstGeom>
          <a:noFill/>
          <a:ln/>
        </p:spPr>
        <p:txBody>
          <a:bodyPr wrap="none" lIns="0" tIns="0" rIns="0" bIns="0" rtlCol="0" anchor="t"/>
          <a:lstStyle/>
          <a:p>
            <a:pPr algn="l" indent="0" marL="0">
              <a:lnSpc>
                <a:spcPts val="195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Synthetic geometric shapes with controlled properties</a:t>
            </a:r>
            <a:endParaRPr lang="en-US" sz="1200" dirty="0"/>
          </a:p>
        </p:txBody>
      </p:sp>
      <p:sp>
        <p:nvSpPr>
          <p:cNvPr id="9" name="Shape 7"/>
          <p:cNvSpPr/>
          <p:nvPr/>
        </p:nvSpPr>
        <p:spPr>
          <a:xfrm>
            <a:off x="9676090" y="1248608"/>
            <a:ext cx="4411980" cy="892731"/>
          </a:xfrm>
          <a:prstGeom prst="roundRect">
            <a:avLst>
              <a:gd name="adj" fmla="val 15624"/>
            </a:avLst>
          </a:prstGeom>
          <a:solidFill>
            <a:srgbClr val="CEE6FD"/>
          </a:solidFill>
          <a:ln/>
        </p:spPr>
      </p:sp>
      <p:sp>
        <p:nvSpPr>
          <p:cNvPr id="10" name="Text 8"/>
          <p:cNvSpPr/>
          <p:nvPr/>
        </p:nvSpPr>
        <p:spPr>
          <a:xfrm>
            <a:off x="9830991" y="1403509"/>
            <a:ext cx="1937147" cy="242054"/>
          </a:xfrm>
          <a:prstGeom prst="rect">
            <a:avLst/>
          </a:prstGeom>
          <a:noFill/>
          <a:ln/>
        </p:spPr>
        <p:txBody>
          <a:bodyPr wrap="none" lIns="0" tIns="0" rIns="0" bIns="0" rtlCol="0" anchor="t"/>
          <a:lstStyle/>
          <a:p>
            <a:pPr algn="l" indent="0" marL="0">
              <a:lnSpc>
                <a:spcPts val="1900"/>
              </a:lnSpc>
              <a:buNone/>
            </a:pPr>
            <a:r>
              <a:rPr lang="en-US" sz="1500" dirty="0">
                <a:solidFill>
                  <a:srgbClr val="1E3063"/>
                </a:solidFill>
                <a:latin typeface="Instrument Sans Semi Bold" pitchFamily="34" charset="0"/>
                <a:ea typeface="Instrument Sans Semi Bold" pitchFamily="34" charset="-122"/>
                <a:cs typeface="Instrument Sans Semi Bold" pitchFamily="34" charset="-120"/>
              </a:rPr>
              <a:t>Pipeline</a:t>
            </a:r>
            <a:endParaRPr lang="en-US" sz="1500" dirty="0"/>
          </a:p>
        </p:txBody>
      </p:sp>
      <p:sp>
        <p:nvSpPr>
          <p:cNvPr id="11" name="Text 9"/>
          <p:cNvSpPr/>
          <p:nvPr/>
        </p:nvSpPr>
        <p:spPr>
          <a:xfrm>
            <a:off x="9830991" y="1738432"/>
            <a:ext cx="4102179" cy="248007"/>
          </a:xfrm>
          <a:prstGeom prst="rect">
            <a:avLst/>
          </a:prstGeom>
          <a:noFill/>
          <a:ln/>
        </p:spPr>
        <p:txBody>
          <a:bodyPr wrap="none" lIns="0" tIns="0" rIns="0" bIns="0" rtlCol="0" anchor="t"/>
          <a:lstStyle/>
          <a:p>
            <a:pPr algn="l" indent="0" marL="0">
              <a:lnSpc>
                <a:spcPts val="195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Binary → Labeling → Filtering → Contour Detection</a:t>
            </a:r>
            <a:endParaRPr lang="en-US" sz="1200" dirty="0"/>
          </a:p>
        </p:txBody>
      </p:sp>
      <p:sp>
        <p:nvSpPr>
          <p:cNvPr id="12" name="Text 10"/>
          <p:cNvSpPr/>
          <p:nvPr/>
        </p:nvSpPr>
        <p:spPr>
          <a:xfrm>
            <a:off x="542330" y="2315647"/>
            <a:ext cx="13545741" cy="248007"/>
          </a:xfrm>
          <a:prstGeom prst="rect">
            <a:avLst/>
          </a:prstGeom>
          <a:noFill/>
          <a:ln/>
        </p:spPr>
        <p:txBody>
          <a:bodyPr wrap="none" lIns="0" tIns="0" rIns="0" bIns="0" rtlCol="0" anchor="t"/>
          <a:lstStyle/>
          <a:p>
            <a:pPr algn="l" indent="0" marL="0">
              <a:lnSpc>
                <a:spcPts val="1950"/>
              </a:lnSpc>
              <a:buNone/>
            </a:pPr>
            <a:r>
              <a:rPr lang="en-US" sz="1200" dirty="0">
                <a:solidFill>
                  <a:srgbClr val="1E3063"/>
                </a:solidFill>
                <a:latin typeface="Instrument Sans Medium" pitchFamily="34" charset="0"/>
                <a:ea typeface="Instrument Sans Medium" pitchFamily="34" charset="-122"/>
                <a:cs typeface="Instrument Sans Medium" pitchFamily="34" charset="-120"/>
              </a:rPr>
              <a:t>The implementation leverages classical computer vision techniques to achieve robust shape detection through systematic image analysis and feature extraction.</a:t>
            </a:r>
            <a:endParaRPr lang="en-US" sz="1200" dirty="0"/>
          </a:p>
        </p:txBody>
      </p:sp>
      <p:pic>
        <p:nvPicPr>
          <p:cNvPr id="13" name="Image 0" descr="preencoded.png">    </p:cNvPr>
          <p:cNvPicPr>
            <a:picLocks noChangeAspect="1"/>
          </p:cNvPicPr>
          <p:nvPr/>
        </p:nvPicPr>
        <p:blipFill>
          <a:blip r:embed="rId1"/>
          <a:stretch>
            <a:fillRect/>
          </a:stretch>
        </p:blipFill>
        <p:spPr>
          <a:xfrm>
            <a:off x="542330" y="2912269"/>
            <a:ext cx="4026337" cy="4253984"/>
          </a:xfrm>
          <a:prstGeom prst="rect">
            <a:avLst/>
          </a:prstGeom>
        </p:spPr>
      </p:pic>
      <p:sp>
        <p:nvSpPr>
          <p:cNvPr id="14" name="Text 11"/>
          <p:cNvSpPr/>
          <p:nvPr/>
        </p:nvSpPr>
        <p:spPr>
          <a:xfrm>
            <a:off x="542330" y="7340560"/>
            <a:ext cx="6583918" cy="198239"/>
          </a:xfrm>
          <a:prstGeom prst="rect">
            <a:avLst/>
          </a:prstGeom>
          <a:noFill/>
          <a:ln/>
        </p:spPr>
        <p:txBody>
          <a:bodyPr wrap="none" lIns="0" tIns="0" rIns="0" bIns="0" rtlCol="0" anchor="t"/>
          <a:lstStyle/>
          <a:p>
            <a:pPr algn="l" indent="0" marL="0">
              <a:lnSpc>
                <a:spcPts val="1550"/>
              </a:lnSpc>
              <a:buNone/>
            </a:pPr>
            <a:r>
              <a:rPr lang="en-US" sz="950" b="1" dirty="0">
                <a:solidFill>
                  <a:srgbClr val="1E3063"/>
                </a:solidFill>
                <a:latin typeface="Instrument Sans Medium" pitchFamily="34" charset="0"/>
                <a:ea typeface="Instrument Sans Medium" pitchFamily="34" charset="-122"/>
                <a:cs typeface="Instrument Sans Medium" pitchFamily="34" charset="-120"/>
              </a:rPr>
              <a:t>After Size Filtering</a:t>
            </a:r>
            <a:endParaRPr lang="en-US" sz="950" dirty="0"/>
          </a:p>
        </p:txBody>
      </p:sp>
      <p:pic>
        <p:nvPicPr>
          <p:cNvPr id="15" name="Image 1" descr="preencoded.png">    </p:cNvPr>
          <p:cNvPicPr>
            <a:picLocks noChangeAspect="1"/>
          </p:cNvPicPr>
          <p:nvPr/>
        </p:nvPicPr>
        <p:blipFill>
          <a:blip r:embed="rId2"/>
          <a:stretch>
            <a:fillRect/>
          </a:stretch>
        </p:blipFill>
        <p:spPr>
          <a:xfrm>
            <a:off x="7511772" y="2912269"/>
            <a:ext cx="4026337" cy="4253984"/>
          </a:xfrm>
          <a:prstGeom prst="rect">
            <a:avLst/>
          </a:prstGeom>
        </p:spPr>
      </p:pic>
      <p:sp>
        <p:nvSpPr>
          <p:cNvPr id="16" name="Text 12"/>
          <p:cNvSpPr/>
          <p:nvPr/>
        </p:nvSpPr>
        <p:spPr>
          <a:xfrm>
            <a:off x="7511772" y="7340560"/>
            <a:ext cx="6583918" cy="198239"/>
          </a:xfrm>
          <a:prstGeom prst="rect">
            <a:avLst/>
          </a:prstGeom>
          <a:noFill/>
          <a:ln/>
        </p:spPr>
        <p:txBody>
          <a:bodyPr wrap="none" lIns="0" tIns="0" rIns="0" bIns="0" rtlCol="0" anchor="t"/>
          <a:lstStyle/>
          <a:p>
            <a:pPr algn="l" indent="0" marL="0">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Final Shape Recognition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9724" y="1352907"/>
            <a:ext cx="4314230" cy="464106"/>
          </a:xfrm>
          <a:prstGeom prst="rect">
            <a:avLst/>
          </a:prstGeom>
          <a:noFill/>
          <a:ln/>
        </p:spPr>
        <p:txBody>
          <a:bodyPr wrap="none" lIns="0" tIns="0" rIns="0" bIns="0" rtlCol="0" anchor="t"/>
          <a:lstStyle/>
          <a:p>
            <a:pPr algn="l" indent="0" marL="0">
              <a:lnSpc>
                <a:spcPts val="3650"/>
              </a:lnSpc>
              <a:buNone/>
            </a:pPr>
            <a:r>
              <a:rPr lang="en-US" sz="2900" dirty="0">
                <a:solidFill>
                  <a:srgbClr val="091C53"/>
                </a:solidFill>
                <a:latin typeface="Instrument Sans Semi Bold" pitchFamily="34" charset="0"/>
                <a:ea typeface="Instrument Sans Semi Bold" pitchFamily="34" charset="-122"/>
                <a:cs typeface="Instrument Sans Semi Bold" pitchFamily="34" charset="-120"/>
              </a:rPr>
              <a:t>Results &amp; Visual Analysis</a:t>
            </a:r>
            <a:endParaRPr lang="en-US" sz="2900" dirty="0"/>
          </a:p>
        </p:txBody>
      </p:sp>
      <p:sp>
        <p:nvSpPr>
          <p:cNvPr id="3" name="Text 1"/>
          <p:cNvSpPr/>
          <p:nvPr/>
        </p:nvSpPr>
        <p:spPr>
          <a:xfrm>
            <a:off x="649724" y="2188250"/>
            <a:ext cx="13330952" cy="593884"/>
          </a:xfrm>
          <a:prstGeom prst="rect">
            <a:avLst/>
          </a:prstGeom>
          <a:noFill/>
          <a:ln/>
        </p:spPr>
        <p:txBody>
          <a:bodyPr wrap="square" lIns="0" tIns="0" rIns="0" bIns="0" rtlCol="0" anchor="t"/>
          <a:lstStyle/>
          <a:p>
            <a:pPr algn="l" indent="0" marL="0">
              <a:lnSpc>
                <a:spcPts val="230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The following progression demonstrates each processing stage and validates the effectiveness of the connected component labeling approach for shape detection and counting.</a:t>
            </a:r>
            <a:endParaRPr lang="en-US" sz="1450" dirty="0"/>
          </a:p>
        </p:txBody>
      </p:sp>
      <p:pic>
        <p:nvPicPr>
          <p:cNvPr id="4" name="Image 0" descr="preencoded.png">    </p:cNvPr>
          <p:cNvPicPr>
            <a:picLocks noChangeAspect="1"/>
          </p:cNvPicPr>
          <p:nvPr/>
        </p:nvPicPr>
        <p:blipFill>
          <a:blip r:embed="rId1"/>
          <a:stretch>
            <a:fillRect/>
          </a:stretch>
        </p:blipFill>
        <p:spPr>
          <a:xfrm>
            <a:off x="657344" y="3111818"/>
            <a:ext cx="2544366" cy="2544366"/>
          </a:xfrm>
          <a:prstGeom prst="rect">
            <a:avLst/>
          </a:prstGeom>
        </p:spPr>
      </p:pic>
      <p:pic>
        <p:nvPicPr>
          <p:cNvPr id="5" name="Image 1" descr="preencoded.png">    </p:cNvPr>
          <p:cNvPicPr>
            <a:picLocks noChangeAspect="1"/>
          </p:cNvPicPr>
          <p:nvPr/>
        </p:nvPicPr>
        <p:blipFill>
          <a:blip r:embed="rId2"/>
          <a:stretch>
            <a:fillRect/>
          </a:stretch>
        </p:blipFill>
        <p:spPr>
          <a:xfrm>
            <a:off x="3350181" y="3111818"/>
            <a:ext cx="2544366" cy="2544366"/>
          </a:xfrm>
          <a:prstGeom prst="rect">
            <a:avLst/>
          </a:prstGeom>
        </p:spPr>
      </p:pic>
      <p:pic>
        <p:nvPicPr>
          <p:cNvPr id="6" name="Image 2" descr="preencoded.png">    </p:cNvPr>
          <p:cNvPicPr>
            <a:picLocks noChangeAspect="1"/>
          </p:cNvPicPr>
          <p:nvPr/>
        </p:nvPicPr>
        <p:blipFill>
          <a:blip r:embed="rId3"/>
          <a:stretch>
            <a:fillRect/>
          </a:stretch>
        </p:blipFill>
        <p:spPr>
          <a:xfrm>
            <a:off x="6043017" y="3111818"/>
            <a:ext cx="2544366" cy="2544366"/>
          </a:xfrm>
          <a:prstGeom prst="rect">
            <a:avLst/>
          </a:prstGeom>
        </p:spPr>
      </p:pic>
      <p:pic>
        <p:nvPicPr>
          <p:cNvPr id="7" name="Image 3" descr="preencoded.png">    </p:cNvPr>
          <p:cNvPicPr>
            <a:picLocks noChangeAspect="1"/>
          </p:cNvPicPr>
          <p:nvPr/>
        </p:nvPicPr>
        <p:blipFill>
          <a:blip r:embed="rId4"/>
          <a:stretch>
            <a:fillRect/>
          </a:stretch>
        </p:blipFill>
        <p:spPr>
          <a:xfrm>
            <a:off x="8735854" y="3111818"/>
            <a:ext cx="2544366" cy="2544366"/>
          </a:xfrm>
          <a:prstGeom prst="rect">
            <a:avLst/>
          </a:prstGeom>
        </p:spPr>
      </p:pic>
      <p:pic>
        <p:nvPicPr>
          <p:cNvPr id="8" name="Image 4" descr="preencoded.png">    </p:cNvPr>
          <p:cNvPicPr>
            <a:picLocks noChangeAspect="1"/>
          </p:cNvPicPr>
          <p:nvPr/>
        </p:nvPicPr>
        <p:blipFill>
          <a:blip r:embed="rId5"/>
          <a:stretch>
            <a:fillRect/>
          </a:stretch>
        </p:blipFill>
        <p:spPr>
          <a:xfrm>
            <a:off x="11428690" y="3111818"/>
            <a:ext cx="2544366" cy="2544366"/>
          </a:xfrm>
          <a:prstGeom prst="rect">
            <a:avLst/>
          </a:prstGeom>
        </p:spPr>
      </p:pic>
      <p:sp>
        <p:nvSpPr>
          <p:cNvPr id="9" name="Shape 2"/>
          <p:cNvSpPr/>
          <p:nvPr/>
        </p:nvSpPr>
        <p:spPr>
          <a:xfrm>
            <a:off x="649724" y="6087963"/>
            <a:ext cx="92750" cy="92750"/>
          </a:xfrm>
          <a:prstGeom prst="roundRect">
            <a:avLst>
              <a:gd name="adj" fmla="val 492938"/>
            </a:avLst>
          </a:prstGeom>
          <a:solidFill>
            <a:srgbClr val="84C1FA"/>
          </a:solidFill>
          <a:ln/>
        </p:spPr>
      </p:sp>
      <p:sp>
        <p:nvSpPr>
          <p:cNvPr id="10" name="Text 3"/>
          <p:cNvSpPr/>
          <p:nvPr/>
        </p:nvSpPr>
        <p:spPr>
          <a:xfrm>
            <a:off x="928092" y="5985867"/>
            <a:ext cx="4010501" cy="890826"/>
          </a:xfrm>
          <a:prstGeom prst="rect">
            <a:avLst/>
          </a:prstGeom>
          <a:noFill/>
          <a:ln/>
        </p:spPr>
        <p:txBody>
          <a:bodyPr wrap="square" lIns="0" tIns="0" rIns="0" bIns="0" rtlCol="0" anchor="t"/>
          <a:lstStyle/>
          <a:p>
            <a:pPr algn="l" indent="0" marL="0">
              <a:lnSpc>
                <a:spcPts val="2300"/>
              </a:lnSpc>
              <a:buNone/>
            </a:pPr>
            <a:r>
              <a:rPr lang="en-US" sz="1450" b="1" dirty="0">
                <a:solidFill>
                  <a:srgbClr val="1E3063"/>
                </a:solidFill>
                <a:latin typeface="Instrument Sans Medium" pitchFamily="34" charset="0"/>
                <a:ea typeface="Instrument Sans Medium" pitchFamily="34" charset="-122"/>
                <a:cs typeface="Instrument Sans Medium" pitchFamily="34" charset="-120"/>
              </a:rPr>
              <a:t>Binary thresholding</a:t>
            </a:r>
            <a:pPr algn="l" indent="0" marL="0">
              <a:lnSpc>
                <a:spcPts val="230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 successfully isolates shapes from background with minimal artifacts</a:t>
            </a:r>
            <a:endParaRPr lang="en-US" sz="1450" dirty="0"/>
          </a:p>
        </p:txBody>
      </p:sp>
      <p:sp>
        <p:nvSpPr>
          <p:cNvPr id="11" name="Shape 4"/>
          <p:cNvSpPr/>
          <p:nvPr/>
        </p:nvSpPr>
        <p:spPr>
          <a:xfrm>
            <a:off x="5170646" y="6087963"/>
            <a:ext cx="92750" cy="92750"/>
          </a:xfrm>
          <a:prstGeom prst="roundRect">
            <a:avLst>
              <a:gd name="adj" fmla="val 492938"/>
            </a:avLst>
          </a:prstGeom>
          <a:solidFill>
            <a:srgbClr val="84C1FA"/>
          </a:solidFill>
          <a:ln/>
        </p:spPr>
      </p:sp>
      <p:sp>
        <p:nvSpPr>
          <p:cNvPr id="12" name="Text 5"/>
          <p:cNvSpPr/>
          <p:nvPr/>
        </p:nvSpPr>
        <p:spPr>
          <a:xfrm>
            <a:off x="5449014" y="5985867"/>
            <a:ext cx="4010620" cy="593884"/>
          </a:xfrm>
          <a:prstGeom prst="rect">
            <a:avLst/>
          </a:prstGeom>
          <a:noFill/>
          <a:ln/>
        </p:spPr>
        <p:txBody>
          <a:bodyPr wrap="square" lIns="0" tIns="0" rIns="0" bIns="0" rtlCol="0" anchor="t"/>
          <a:lstStyle/>
          <a:p>
            <a:pPr algn="l" indent="0" marL="0">
              <a:lnSpc>
                <a:spcPts val="2300"/>
              </a:lnSpc>
              <a:buNone/>
            </a:pPr>
            <a:r>
              <a:rPr lang="en-US" sz="1450" b="1" dirty="0">
                <a:solidFill>
                  <a:srgbClr val="1E3063"/>
                </a:solidFill>
                <a:latin typeface="Instrument Sans Medium" pitchFamily="34" charset="0"/>
                <a:ea typeface="Instrument Sans Medium" pitchFamily="34" charset="-122"/>
                <a:cs typeface="Instrument Sans Medium" pitchFamily="34" charset="-120"/>
              </a:rPr>
              <a:t>Connected component labeling</a:t>
            </a:r>
            <a:pPr algn="l" indent="0" marL="0">
              <a:lnSpc>
                <a:spcPts val="230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 accurately counts objects and assigns unique identifiers</a:t>
            </a:r>
            <a:endParaRPr lang="en-US" sz="1450" dirty="0"/>
          </a:p>
        </p:txBody>
      </p:sp>
      <p:sp>
        <p:nvSpPr>
          <p:cNvPr id="13" name="Shape 6"/>
          <p:cNvSpPr/>
          <p:nvPr/>
        </p:nvSpPr>
        <p:spPr>
          <a:xfrm>
            <a:off x="9691687" y="6087963"/>
            <a:ext cx="92750" cy="92750"/>
          </a:xfrm>
          <a:prstGeom prst="roundRect">
            <a:avLst>
              <a:gd name="adj" fmla="val 492938"/>
            </a:avLst>
          </a:prstGeom>
          <a:solidFill>
            <a:srgbClr val="84C1FA"/>
          </a:solidFill>
          <a:ln/>
        </p:spPr>
      </p:sp>
      <p:sp>
        <p:nvSpPr>
          <p:cNvPr id="14" name="Text 7"/>
          <p:cNvSpPr/>
          <p:nvPr/>
        </p:nvSpPr>
        <p:spPr>
          <a:xfrm>
            <a:off x="9970056" y="5985867"/>
            <a:ext cx="4010620" cy="890826"/>
          </a:xfrm>
          <a:prstGeom prst="rect">
            <a:avLst/>
          </a:prstGeom>
          <a:noFill/>
          <a:ln/>
        </p:spPr>
        <p:txBody>
          <a:bodyPr wrap="square" lIns="0" tIns="0" rIns="0" bIns="0" rtlCol="0" anchor="t"/>
          <a:lstStyle/>
          <a:p>
            <a:pPr algn="l" indent="0" marL="0">
              <a:lnSpc>
                <a:spcPts val="2300"/>
              </a:lnSpc>
              <a:buNone/>
            </a:pPr>
            <a:r>
              <a:rPr lang="en-US" sz="1450" b="1" dirty="0">
                <a:solidFill>
                  <a:srgbClr val="1E3063"/>
                </a:solidFill>
                <a:latin typeface="Instrument Sans Medium" pitchFamily="34" charset="0"/>
                <a:ea typeface="Instrument Sans Medium" pitchFamily="34" charset="-122"/>
                <a:cs typeface="Instrument Sans Medium" pitchFamily="34" charset="-120"/>
              </a:rPr>
              <a:t>Hu moments and contour approximation</a:t>
            </a:r>
            <a:pPr algn="l" indent="0" marL="0">
              <a:lnSpc>
                <a:spcPts val="2300"/>
              </a:lnSpc>
              <a:buNone/>
            </a:pPr>
            <a:r>
              <a:rPr lang="en-US" sz="1450" dirty="0">
                <a:solidFill>
                  <a:srgbClr val="1E3063"/>
                </a:solidFill>
                <a:latin typeface="Instrument Sans Medium" pitchFamily="34" charset="0"/>
                <a:ea typeface="Instrument Sans Medium" pitchFamily="34" charset="-122"/>
                <a:cs typeface="Instrument Sans Medium" pitchFamily="34" charset="-120"/>
              </a:rPr>
              <a:t> identify shapes with high classification accuracy</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6277" y="547092"/>
            <a:ext cx="5076111" cy="497324"/>
          </a:xfrm>
          <a:prstGeom prst="rect">
            <a:avLst/>
          </a:prstGeom>
          <a:noFill/>
          <a:ln/>
        </p:spPr>
        <p:txBody>
          <a:bodyPr wrap="none" lIns="0" tIns="0" rIns="0" bIns="0" rtlCol="0" anchor="t"/>
          <a:lstStyle/>
          <a:p>
            <a:pPr algn="l" indent="0" marL="0">
              <a:lnSpc>
                <a:spcPts val="3900"/>
              </a:lnSpc>
              <a:buNone/>
            </a:pPr>
            <a:r>
              <a:rPr lang="en-US" sz="3100" dirty="0">
                <a:solidFill>
                  <a:srgbClr val="091C53"/>
                </a:solidFill>
                <a:latin typeface="Instrument Sans Semi Bold" pitchFamily="34" charset="0"/>
                <a:ea typeface="Instrument Sans Semi Bold" pitchFamily="34" charset="-122"/>
                <a:cs typeface="Instrument Sans Semi Bold" pitchFamily="34" charset="-120"/>
              </a:rPr>
              <a:t>Conclusion &amp; Future Scope</a:t>
            </a:r>
            <a:endParaRPr lang="en-US" sz="3100" dirty="0"/>
          </a:p>
        </p:txBody>
      </p:sp>
      <p:sp>
        <p:nvSpPr>
          <p:cNvPr id="3" name="Text 1"/>
          <p:cNvSpPr/>
          <p:nvPr/>
        </p:nvSpPr>
        <p:spPr>
          <a:xfrm>
            <a:off x="696277" y="1541740"/>
            <a:ext cx="2486978" cy="310872"/>
          </a:xfrm>
          <a:prstGeom prst="rect">
            <a:avLst/>
          </a:prstGeom>
          <a:noFill/>
          <a:ln/>
        </p:spPr>
        <p:txBody>
          <a:bodyPr wrap="non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Conclusion</a:t>
            </a:r>
            <a:endParaRPr lang="en-US" sz="1950" dirty="0"/>
          </a:p>
        </p:txBody>
      </p:sp>
      <p:sp>
        <p:nvSpPr>
          <p:cNvPr id="4" name="Text 2"/>
          <p:cNvSpPr/>
          <p:nvPr/>
        </p:nvSpPr>
        <p:spPr>
          <a:xfrm>
            <a:off x="696277" y="2051566"/>
            <a:ext cx="6376273" cy="1909524"/>
          </a:xfrm>
          <a:prstGeom prst="rect">
            <a:avLst/>
          </a:prstGeom>
          <a:noFill/>
          <a:ln/>
        </p:spPr>
        <p:txBody>
          <a:bodyPr wrap="square" lIns="0" tIns="0" rIns="0" bIns="0" rtlCol="0" anchor="t"/>
          <a:lstStyle/>
          <a:p>
            <a:pPr algn="l" indent="0" marL="0">
              <a:lnSpc>
                <a:spcPts val="2500"/>
              </a:lnSpc>
              <a:buNone/>
            </a:pPr>
            <a:r>
              <a:rPr lang="en-US" sz="1550" dirty="0">
                <a:solidFill>
                  <a:srgbClr val="1E3063"/>
                </a:solidFill>
                <a:latin typeface="Instrument Sans Medium" pitchFamily="34" charset="0"/>
                <a:ea typeface="Instrument Sans Medium" pitchFamily="34" charset="-122"/>
                <a:cs typeface="Instrument Sans Medium" pitchFamily="34" charset="-120"/>
              </a:rPr>
              <a:t>This project successfully implemented binary shape analysis using classical computer vision techniques. Connected component labeling efficiently counted and classified geometric objects based on connectivity, region properties, and moment invariants, demonstrating the practical effectiveness of these foundational methods.</a:t>
            </a:r>
            <a:endParaRPr lang="en-US" sz="1550" dirty="0"/>
          </a:p>
        </p:txBody>
      </p:sp>
      <p:sp>
        <p:nvSpPr>
          <p:cNvPr id="5" name="Text 3"/>
          <p:cNvSpPr/>
          <p:nvPr/>
        </p:nvSpPr>
        <p:spPr>
          <a:xfrm>
            <a:off x="696277" y="4160044"/>
            <a:ext cx="2486978" cy="310872"/>
          </a:xfrm>
          <a:prstGeom prst="rect">
            <a:avLst/>
          </a:prstGeom>
          <a:noFill/>
          <a:ln/>
        </p:spPr>
        <p:txBody>
          <a:bodyPr wrap="non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Future Scope</a:t>
            </a:r>
            <a:endParaRPr lang="en-US" sz="1950" dirty="0"/>
          </a:p>
        </p:txBody>
      </p:sp>
      <p:sp>
        <p:nvSpPr>
          <p:cNvPr id="6" name="Text 4"/>
          <p:cNvSpPr/>
          <p:nvPr/>
        </p:nvSpPr>
        <p:spPr>
          <a:xfrm>
            <a:off x="696277" y="4669869"/>
            <a:ext cx="6376273" cy="3182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E3063"/>
                </a:solidFill>
                <a:latin typeface="Instrument Sans Medium" pitchFamily="34" charset="0"/>
                <a:ea typeface="Instrument Sans Medium" pitchFamily="34" charset="-122"/>
                <a:cs typeface="Instrument Sans Medium" pitchFamily="34" charset="-120"/>
              </a:rPr>
              <a:t>Extend to real-world object detection scenarios</a:t>
            </a:r>
            <a:endParaRPr lang="en-US" sz="1550" dirty="0"/>
          </a:p>
        </p:txBody>
      </p:sp>
      <p:sp>
        <p:nvSpPr>
          <p:cNvPr id="7" name="Text 5"/>
          <p:cNvSpPr/>
          <p:nvPr/>
        </p:nvSpPr>
        <p:spPr>
          <a:xfrm>
            <a:off x="696277" y="5057656"/>
            <a:ext cx="6376273" cy="3182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E3063"/>
                </a:solidFill>
                <a:latin typeface="Instrument Sans Medium" pitchFamily="34" charset="0"/>
                <a:ea typeface="Instrument Sans Medium" pitchFamily="34" charset="-122"/>
                <a:cs typeface="Instrument Sans Medium" pitchFamily="34" charset="-120"/>
              </a:rPr>
              <a:t>Integrate skeletonization for structural analysis</a:t>
            </a:r>
            <a:endParaRPr lang="en-US" sz="1550" dirty="0"/>
          </a:p>
        </p:txBody>
      </p:sp>
      <p:sp>
        <p:nvSpPr>
          <p:cNvPr id="8" name="Text 6"/>
          <p:cNvSpPr/>
          <p:nvPr/>
        </p:nvSpPr>
        <p:spPr>
          <a:xfrm>
            <a:off x="696277" y="5445443"/>
            <a:ext cx="6376273" cy="3182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E3063"/>
                </a:solidFill>
                <a:latin typeface="Instrument Sans Medium" pitchFamily="34" charset="0"/>
                <a:ea typeface="Instrument Sans Medium" pitchFamily="34" charset="-122"/>
                <a:cs typeface="Instrument Sans Medium" pitchFamily="34" charset="-120"/>
              </a:rPr>
              <a:t>Apply deep learning for complex shape recognition</a:t>
            </a:r>
            <a:endParaRPr lang="en-US" sz="1550" dirty="0"/>
          </a:p>
        </p:txBody>
      </p:sp>
      <p:sp>
        <p:nvSpPr>
          <p:cNvPr id="9" name="Text 7"/>
          <p:cNvSpPr/>
          <p:nvPr/>
        </p:nvSpPr>
        <p:spPr>
          <a:xfrm>
            <a:off x="696277" y="5833229"/>
            <a:ext cx="6376273" cy="318254"/>
          </a:xfrm>
          <a:prstGeom prst="rect">
            <a:avLst/>
          </a:prstGeom>
          <a:noFill/>
          <a:ln/>
        </p:spPr>
        <p:txBody>
          <a:bodyPr wrap="none" lIns="0" tIns="0" rIns="0" bIns="0" rtlCol="0" anchor="t"/>
          <a:lstStyle/>
          <a:p>
            <a:pPr algn="l" marL="342900" indent="-342900">
              <a:lnSpc>
                <a:spcPts val="2500"/>
              </a:lnSpc>
              <a:buSzPct val="100000"/>
              <a:buChar char="•"/>
            </a:pPr>
            <a:r>
              <a:rPr lang="en-US" sz="1550" dirty="0">
                <a:solidFill>
                  <a:srgbClr val="1E3063"/>
                </a:solidFill>
                <a:latin typeface="Instrument Sans Medium" pitchFamily="34" charset="0"/>
                <a:ea typeface="Instrument Sans Medium" pitchFamily="34" charset="-122"/>
                <a:cs typeface="Instrument Sans Medium" pitchFamily="34" charset="-120"/>
              </a:rPr>
              <a:t>Optimize for real-time video processing</a:t>
            </a:r>
            <a:endParaRPr lang="en-US" sz="1550" dirty="0"/>
          </a:p>
        </p:txBody>
      </p:sp>
      <p:sp>
        <p:nvSpPr>
          <p:cNvPr id="10" name="Text 8"/>
          <p:cNvSpPr/>
          <p:nvPr/>
        </p:nvSpPr>
        <p:spPr>
          <a:xfrm>
            <a:off x="7565469" y="1521738"/>
            <a:ext cx="6376273" cy="254675"/>
          </a:xfrm>
          <a:prstGeom prst="rect">
            <a:avLst/>
          </a:prstGeom>
          <a:noFill/>
          <a:ln/>
        </p:spPr>
        <p:txBody>
          <a:bodyPr wrap="none" lIns="0" tIns="0" rIns="0" bIns="0" rtlCol="0" anchor="t"/>
          <a:lstStyle/>
          <a:p>
            <a:pPr algn="l" indent="0" marL="0">
              <a:lnSpc>
                <a:spcPts val="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Skeletonized Image</a:t>
            </a:r>
            <a:endParaRPr lang="en-US" sz="1250" dirty="0"/>
          </a:p>
        </p:txBody>
      </p:sp>
      <p:pic>
        <p:nvPicPr>
          <p:cNvPr id="11" name="Image 0" descr="preencoded.png">    </p:cNvPr>
          <p:cNvPicPr>
            <a:picLocks noChangeAspect="1"/>
          </p:cNvPicPr>
          <p:nvPr/>
        </p:nvPicPr>
        <p:blipFill>
          <a:blip r:embed="rId1"/>
          <a:stretch>
            <a:fillRect/>
          </a:stretch>
        </p:blipFill>
        <p:spPr>
          <a:xfrm>
            <a:off x="7565469" y="2000131"/>
            <a:ext cx="5169098" cy="546139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2025-11-08T13:45:07Z</dcterms:created>
  <dcterms:modified xsi:type="dcterms:W3CDTF">2025-11-08T13:45:07Z</dcterms:modified>
</cp:coreProperties>
</file>